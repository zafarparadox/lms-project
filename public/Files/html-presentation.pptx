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BBBCD-29DE-4229-830C-22EF154D49A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FA796-D091-4A28-B6A8-90E867B4B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84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87C2-C4F3-4B34-8982-07167AB8C496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1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7EBAF-722D-4E7A-9E97-04C540127B28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78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8C9DC-1224-40DE-84AB-5A80649DBA69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7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888B-32CB-4FD4-BF2E-1F8391145E5F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51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CEDB4-EA94-44CA-A1D4-8F557FD10169}" type="datetime1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18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16C2-BC1C-440B-A36F-1FFE70FFC9A5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2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BF00-BBB4-4545-9376-0ABDC98DAC1F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C477-6171-416E-B07B-11158041DF5D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465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87E1-97AF-483D-97A5-4A17422F7AF0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5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ED1C-421E-416C-99BD-8DDDD90D22BC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926A-6CB1-4C33-A522-C9841097B601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091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363-D6B5-49B1-8DBE-EB8D9468DC55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6796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0AFA-55B2-4CDB-9F8B-35DC71A775CA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26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D526-9DDB-4693-85AB-64D7402A93CE}" type="datetime1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6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7AD7-1443-4D98-8CD6-65ACF0A38E4B}" type="datetime1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25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7B7A-6E88-40B4-91F7-165D0AE01EBD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8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8DC0-BCE7-4F36-A789-808227E07021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69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0EE30A0-682E-433F-BCD8-10965821F0FD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FA24A-B88A-4AA3-B7BE-5363A62C7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34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BC4395-994B-5D75-5BD7-7BF3F4646126}"/>
              </a:ext>
            </a:extLst>
          </p:cNvPr>
          <p:cNvSpPr txBox="1"/>
          <p:nvPr/>
        </p:nvSpPr>
        <p:spPr>
          <a:xfrm>
            <a:off x="2555070" y="81453"/>
            <a:ext cx="788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 </a:t>
            </a:r>
            <a:r>
              <a:rPr lang="en-IN" sz="2800" b="1" dirty="0">
                <a:solidFill>
                  <a:srgbClr val="FF0000"/>
                </a:solidFill>
              </a:rPr>
              <a:t>&lt;!Structure of HTML5 Document--</a:t>
            </a:r>
            <a:r>
              <a:rPr lang="en-I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&gt;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07EA8-CA54-EC20-2398-5B8A913589E2}"/>
              </a:ext>
            </a:extLst>
          </p:cNvPr>
          <p:cNvSpPr txBox="1"/>
          <p:nvPr/>
        </p:nvSpPr>
        <p:spPr>
          <a:xfrm>
            <a:off x="859094" y="679572"/>
            <a:ext cx="1102178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&lt;!DOCTYPE html&gt;       </a:t>
            </a:r>
            <a:r>
              <a:rPr lang="en-IN" sz="2800" dirty="0">
                <a:solidFill>
                  <a:srgbClr val="92D050"/>
                </a:solidFill>
              </a:rPr>
              <a:t>&lt;! Defines HTML5 document--</a:t>
            </a:r>
            <a:r>
              <a:rPr lang="en-IN" sz="2800" dirty="0">
                <a:solidFill>
                  <a:srgbClr val="92D050"/>
                </a:solidFill>
                <a:sym typeface="Wingdings" panose="05000000000000000000" pitchFamily="2" charset="2"/>
              </a:rPr>
              <a:t>&gt;</a:t>
            </a:r>
            <a:br>
              <a:rPr lang="en-IN" sz="2800" dirty="0"/>
            </a:br>
            <a:r>
              <a:rPr lang="en-IN" sz="2800" dirty="0"/>
              <a:t>&lt;html lang="en"&gt;		</a:t>
            </a:r>
            <a:r>
              <a:rPr lang="en-IN" sz="2800" dirty="0">
                <a:solidFill>
                  <a:srgbClr val="92D050"/>
                </a:solidFill>
              </a:rPr>
              <a:t>&lt;! Root element of web page --&gt;</a:t>
            </a:r>
          </a:p>
          <a:p>
            <a:r>
              <a:rPr lang="en-IN" sz="2800" dirty="0"/>
              <a:t>&lt;head&gt;						</a:t>
            </a:r>
            <a:r>
              <a:rPr lang="en-IN" sz="2800" dirty="0">
                <a:solidFill>
                  <a:srgbClr val="92D050"/>
                </a:solidFill>
              </a:rPr>
              <a:t>&lt;! Contains metadata (not visible)--&gt;</a:t>
            </a:r>
            <a:br>
              <a:rPr lang="en-IN" sz="2800" dirty="0"/>
            </a:br>
            <a:r>
              <a:rPr lang="en-IN" sz="2800" dirty="0"/>
              <a:t>&lt;meta charset="UTF-8"&gt; </a:t>
            </a:r>
            <a:br>
              <a:rPr lang="en-IN" sz="2800" dirty="0"/>
            </a:br>
            <a:r>
              <a:rPr lang="en-IN" sz="2800" dirty="0"/>
              <a:t>&lt;meta name="viewport" content="width=device-width, initial-scale=1.0"&gt;</a:t>
            </a:r>
            <a:br>
              <a:rPr lang="en-IN" sz="2800" dirty="0"/>
            </a:br>
            <a:r>
              <a:rPr lang="en-IN" sz="2800" dirty="0"/>
              <a:t>&lt;title&gt;My Web Page&lt;/title&gt;</a:t>
            </a:r>
            <a:br>
              <a:rPr lang="en-IN" sz="2800" dirty="0"/>
            </a:br>
            <a:r>
              <a:rPr lang="en-IN" sz="2800" dirty="0"/>
              <a:t>&lt;/head&gt;</a:t>
            </a:r>
            <a:br>
              <a:rPr lang="en-IN" sz="2800" dirty="0"/>
            </a:br>
            <a:r>
              <a:rPr lang="en-IN" sz="2800" dirty="0"/>
              <a:t>&lt;body&gt;							</a:t>
            </a:r>
            <a:r>
              <a:rPr lang="en-IN" sz="2800" dirty="0">
                <a:solidFill>
                  <a:srgbClr val="92D050"/>
                </a:solidFill>
              </a:rPr>
              <a:t>&lt;! Contains visible content--&gt;</a:t>
            </a:r>
            <a:br>
              <a:rPr lang="en-IN" sz="2800" dirty="0">
                <a:solidFill>
                  <a:srgbClr val="92D050"/>
                </a:solidFill>
              </a:rPr>
            </a:br>
            <a:r>
              <a:rPr lang="en-IN" sz="2800" dirty="0"/>
              <a:t>&lt;h1&gt;Welcome to My Website&lt;/h1&gt;</a:t>
            </a:r>
            <a:br>
              <a:rPr lang="en-IN" sz="2800" dirty="0"/>
            </a:br>
            <a:r>
              <a:rPr lang="en-IN" sz="2800" dirty="0"/>
              <a:t>&lt;p&gt;This is a simple HTML5 page.&lt;/p&gt;</a:t>
            </a:r>
            <a:br>
              <a:rPr lang="en-IN" sz="2800" dirty="0"/>
            </a:br>
            <a:r>
              <a:rPr lang="en-IN" sz="2800" dirty="0"/>
              <a:t>&lt;/body&gt;</a:t>
            </a:r>
            <a:br>
              <a:rPr lang="en-IN" sz="2800" dirty="0"/>
            </a:br>
            <a:r>
              <a:rPr lang="en-IN" sz="2800" dirty="0"/>
              <a:t>&lt;/html&gt;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857D5-C65F-2955-2A8F-3E5AE7DE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7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AC6EA-8AC5-99A8-3344-DEBFCEEEF09A}"/>
              </a:ext>
            </a:extLst>
          </p:cNvPr>
          <p:cNvSpPr txBox="1"/>
          <p:nvPr/>
        </p:nvSpPr>
        <p:spPr>
          <a:xfrm>
            <a:off x="2782529" y="295729"/>
            <a:ext cx="6105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</a:rPr>
              <a:t>Head Section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76A12-94C0-2BD8-B607-B55CD3BFCA25}"/>
              </a:ext>
            </a:extLst>
          </p:cNvPr>
          <p:cNvSpPr txBox="1"/>
          <p:nvPr/>
        </p:nvSpPr>
        <p:spPr>
          <a:xfrm>
            <a:off x="365423" y="1063416"/>
            <a:ext cx="116201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92D050"/>
                </a:solidFill>
              </a:rPr>
              <a:t>The &lt;head&gt; </a:t>
            </a:r>
            <a:r>
              <a:rPr lang="en-IN" sz="2800" dirty="0"/>
              <a:t>section contains information about the webpage that is </a:t>
            </a:r>
            <a:r>
              <a:rPr lang="en-IN" sz="2800" b="1" dirty="0"/>
              <a:t>not displayed on the screen</a:t>
            </a:r>
            <a:r>
              <a:rPr lang="en-IN" sz="28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92D050"/>
                </a:solidFill>
              </a:rPr>
              <a:t>Uses:</a:t>
            </a:r>
            <a:endParaRPr lang="en-IN" sz="2800" dirty="0">
              <a:solidFill>
                <a:srgbClr val="92D050"/>
              </a:solidFill>
            </a:endParaRPr>
          </a:p>
          <a:p>
            <a:pPr marL="857250" lvl="1" indent="-400050" algn="just">
              <a:buFont typeface="+mj-lt"/>
              <a:buAutoNum type="romanUcPeriod"/>
            </a:pPr>
            <a:r>
              <a:rPr lang="en-IN" sz="2800" dirty="0"/>
              <a:t>Defines page title .</a:t>
            </a:r>
          </a:p>
          <a:p>
            <a:pPr marL="857250" lvl="1" indent="-400050" algn="just">
              <a:buFont typeface="+mj-lt"/>
              <a:buAutoNum type="romanUcPeriod"/>
            </a:pPr>
            <a:r>
              <a:rPr lang="en-IN" sz="2800" dirty="0"/>
              <a:t>It Provides information to SEO (search engine optimization) </a:t>
            </a:r>
          </a:p>
          <a:p>
            <a:pPr marL="857250" lvl="1" indent="-400050" algn="just">
              <a:buFont typeface="+mj-lt"/>
              <a:buAutoNum type="romanUcPeriod"/>
            </a:pPr>
            <a:r>
              <a:rPr lang="en-IN" sz="2800" dirty="0"/>
              <a:t>It link External files (CSS, JS) .</a:t>
            </a:r>
          </a:p>
          <a:p>
            <a:pPr marL="857250" lvl="1" indent="-400050" algn="just">
              <a:buFont typeface="+mj-lt"/>
              <a:buAutoNum type="romanUcPeriod"/>
            </a:pPr>
            <a:r>
              <a:rPr lang="en-IN" sz="2800" dirty="0"/>
              <a:t>It set Character encoding.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92D050"/>
                </a:solidFill>
              </a:rPr>
              <a:t>Elements of Head Section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IN" sz="2800" dirty="0">
                <a:solidFill>
                  <a:srgbClr val="92D050"/>
                </a:solidFill>
              </a:rPr>
              <a:t>&lt;title&gt; </a:t>
            </a:r>
            <a:r>
              <a:rPr lang="en-IN" sz="2800" dirty="0"/>
              <a:t>→ To add page title (show in browser tab)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IN" sz="2800" dirty="0">
                <a:solidFill>
                  <a:srgbClr val="92D050"/>
                </a:solidFill>
              </a:rPr>
              <a:t>&lt;meta&gt; </a:t>
            </a:r>
            <a:r>
              <a:rPr lang="en-IN" sz="2800" dirty="0"/>
              <a:t>→ Provide information about page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IN" sz="2800" dirty="0">
                <a:solidFill>
                  <a:srgbClr val="92D050"/>
                </a:solidFill>
              </a:rPr>
              <a:t>&lt;link&gt; </a:t>
            </a:r>
            <a:r>
              <a:rPr lang="en-IN" sz="2800" dirty="0"/>
              <a:t>→To link CSS file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IN" sz="2800" dirty="0">
                <a:solidFill>
                  <a:srgbClr val="92D050"/>
                </a:solidFill>
              </a:rPr>
              <a:t>&lt;style&gt; </a:t>
            </a:r>
            <a:r>
              <a:rPr lang="en-IN" sz="2800" dirty="0"/>
              <a:t>→ To Write Internal CSS 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IN" sz="2800" dirty="0">
                <a:solidFill>
                  <a:srgbClr val="92D050"/>
                </a:solidFill>
              </a:rPr>
              <a:t>&lt;script&gt; </a:t>
            </a:r>
            <a:r>
              <a:rPr lang="en-IN" sz="2800" dirty="0"/>
              <a:t>→ To add JavaScript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1063" name="Slide Number Placeholder 1062">
            <a:extLst>
              <a:ext uri="{FF2B5EF4-FFF2-40B4-BE49-F238E27FC236}">
                <a16:creationId xmlns:a16="http://schemas.microsoft.com/office/drawing/2014/main" id="{BD673911-759E-E6F5-D596-7CD8E84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100465-11A9-01BE-E6A2-143F988B6371}"/>
              </a:ext>
            </a:extLst>
          </p:cNvPr>
          <p:cNvSpPr txBox="1"/>
          <p:nvPr/>
        </p:nvSpPr>
        <p:spPr>
          <a:xfrm>
            <a:off x="73742" y="245806"/>
            <a:ext cx="1204451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Meta Tag </a:t>
            </a:r>
          </a:p>
          <a:p>
            <a:pPr>
              <a:buNone/>
            </a:pPr>
            <a:r>
              <a:rPr lang="en-IN" sz="3200" b="1" dirty="0"/>
              <a:t>Definition:</a:t>
            </a:r>
            <a:br>
              <a:rPr lang="en-IN" sz="3200" dirty="0"/>
            </a:br>
            <a:r>
              <a:rPr lang="en-IN" sz="3200" dirty="0">
                <a:latin typeface="Courier New" panose="02070309020205020404" pitchFamily="49" charset="0"/>
              </a:rPr>
              <a:t>&lt;meta&gt;</a:t>
            </a:r>
            <a:r>
              <a:rPr lang="en-IN" sz="3200" dirty="0"/>
              <a:t> It provide additional information about webpage.</a:t>
            </a:r>
          </a:p>
          <a:p>
            <a:pPr>
              <a:buNone/>
            </a:pPr>
            <a:r>
              <a:rPr lang="en-IN" sz="3200" b="1" dirty="0"/>
              <a:t>Common Meta Tags:</a:t>
            </a:r>
            <a:endParaRPr lang="en-IN" sz="3200" dirty="0"/>
          </a:p>
          <a:p>
            <a:r>
              <a:rPr lang="en-IN" sz="3200" dirty="0">
                <a:latin typeface="Courier New" panose="02070309020205020404" pitchFamily="49" charset="0"/>
              </a:rPr>
              <a:t>&lt;meta charset="UTF-8"&gt;</a:t>
            </a:r>
            <a:r>
              <a:rPr lang="en-IN" sz="3200" dirty="0">
                <a:solidFill>
                  <a:srgbClr val="92D050"/>
                </a:solidFill>
                <a:latin typeface="Courier New" panose="02070309020205020404" pitchFamily="49" charset="0"/>
              </a:rPr>
              <a:t> &lt;! Set Encoding Format--&gt;</a:t>
            </a:r>
            <a:br>
              <a:rPr lang="en-IN" sz="3200" dirty="0">
                <a:latin typeface="Courier New" panose="02070309020205020404" pitchFamily="49" charset="0"/>
              </a:rPr>
            </a:br>
            <a:r>
              <a:rPr lang="en-IN" sz="3200" dirty="0">
                <a:latin typeface="Courier New" panose="02070309020205020404" pitchFamily="49" charset="0"/>
              </a:rPr>
              <a:t>&lt;meta name="description" content="HTML tutorial"&gt; </a:t>
            </a:r>
            <a:r>
              <a:rPr lang="en-IN" sz="3200" dirty="0">
                <a:solidFill>
                  <a:srgbClr val="92D050"/>
                </a:solidFill>
                <a:latin typeface="Courier New" panose="02070309020205020404" pitchFamily="49" charset="0"/>
              </a:rPr>
              <a:t>&lt;! Page description--&gt;</a:t>
            </a:r>
            <a:br>
              <a:rPr lang="en-IN" sz="3200" dirty="0">
                <a:latin typeface="Courier New" panose="02070309020205020404" pitchFamily="49" charset="0"/>
              </a:rPr>
            </a:br>
            <a:r>
              <a:rPr lang="en-IN" sz="3200" dirty="0">
                <a:latin typeface="Courier New" panose="02070309020205020404" pitchFamily="49" charset="0"/>
              </a:rPr>
              <a:t>&lt;meta name="keywords" content="HTML, CSS, Web"&gt;</a:t>
            </a:r>
            <a:r>
              <a:rPr lang="en-IN" sz="3200" dirty="0">
                <a:solidFill>
                  <a:srgbClr val="92D050"/>
                </a:solidFill>
                <a:latin typeface="Courier New" panose="02070309020205020404" pitchFamily="49" charset="0"/>
              </a:rPr>
              <a:t> &lt;! To hint search engine about page --&gt;</a:t>
            </a:r>
            <a:br>
              <a:rPr lang="en-IN" sz="3200" dirty="0">
                <a:latin typeface="Courier New" panose="02070309020205020404" pitchFamily="49" charset="0"/>
              </a:rPr>
            </a:br>
            <a:r>
              <a:rPr lang="en-IN" sz="3200" dirty="0">
                <a:latin typeface="Courier New" panose="02070309020205020404" pitchFamily="49" charset="0"/>
              </a:rPr>
              <a:t>&lt;meta name="viewport" content="width=device-width, initial-scale=1.0“&gt;</a:t>
            </a:r>
            <a:r>
              <a:rPr lang="en-IN" sz="3200" dirty="0">
                <a:solidFill>
                  <a:srgbClr val="92D050"/>
                </a:solidFill>
                <a:latin typeface="Courier New" panose="02070309020205020404" pitchFamily="49" charset="0"/>
              </a:rPr>
              <a:t> &lt;! To adjust page for mobile--&gt;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92D050"/>
                </a:solidFill>
                <a:latin typeface="Courier New" panose="02070309020205020404" pitchFamily="49" charset="0"/>
              </a:rPr>
              <a:t>It helps in Search Engine Optimization.</a:t>
            </a:r>
            <a:endParaRPr lang="en-IN" sz="32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AC1C7-1BA4-711B-2659-8011551C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92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517327-DF13-FE77-63FA-A87B6B84A34B}"/>
              </a:ext>
            </a:extLst>
          </p:cNvPr>
          <p:cNvSpPr txBox="1"/>
          <p:nvPr/>
        </p:nvSpPr>
        <p:spPr>
          <a:xfrm>
            <a:off x="639097" y="295729"/>
            <a:ext cx="1056967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Body Section</a:t>
            </a:r>
          </a:p>
          <a:p>
            <a:r>
              <a:rPr lang="en-US" sz="3600" b="1" dirty="0">
                <a:solidFill>
                  <a:srgbClr val="92D050"/>
                </a:solidFill>
              </a:rPr>
              <a:t>Definition:</a:t>
            </a:r>
            <a:br>
              <a:rPr lang="en-US" sz="3600" dirty="0"/>
            </a:br>
            <a:r>
              <a:rPr lang="en-US" sz="3600" dirty="0"/>
              <a:t>The &lt;body&gt; section contains all the </a:t>
            </a:r>
            <a:r>
              <a:rPr lang="en-US" sz="3600" b="1" dirty="0"/>
              <a:t>visible content</a:t>
            </a:r>
            <a:r>
              <a:rPr lang="en-US" sz="3600" dirty="0"/>
              <a:t> of the webpage.</a:t>
            </a:r>
          </a:p>
          <a:p>
            <a:r>
              <a:rPr lang="en-US" sz="3600" b="1" dirty="0">
                <a:solidFill>
                  <a:srgbClr val="92D050"/>
                </a:solidFill>
              </a:rPr>
              <a:t>Examples of Content:</a:t>
            </a:r>
            <a:endParaRPr lang="en-US" sz="3600" dirty="0">
              <a:solidFill>
                <a:srgbClr val="92D050"/>
              </a:solidFill>
            </a:endParaRPr>
          </a:p>
          <a:p>
            <a:r>
              <a:rPr lang="en-US" sz="3600" dirty="0"/>
              <a:t>Headings (&lt;</a:t>
            </a:r>
            <a:r>
              <a:rPr lang="en-US" sz="3600" dirty="0" err="1"/>
              <a:t>h1</a:t>
            </a:r>
            <a:r>
              <a:rPr lang="en-US" sz="3600" dirty="0"/>
              <a:t>&gt; to &lt;</a:t>
            </a:r>
            <a:r>
              <a:rPr lang="en-US" sz="3600" dirty="0" err="1"/>
              <a:t>h6</a:t>
            </a:r>
            <a:r>
              <a:rPr lang="en-US" sz="3600" dirty="0"/>
              <a:t>&gt;) </a:t>
            </a:r>
          </a:p>
          <a:p>
            <a:r>
              <a:rPr lang="en-US" sz="3600" dirty="0"/>
              <a:t>Paragraphs (&lt;p&gt;) </a:t>
            </a:r>
          </a:p>
          <a:p>
            <a:r>
              <a:rPr lang="en-US" sz="3600" dirty="0"/>
              <a:t>Images (&lt;</a:t>
            </a:r>
            <a:r>
              <a:rPr lang="en-US" sz="3600" dirty="0" err="1"/>
              <a:t>img</a:t>
            </a:r>
            <a:r>
              <a:rPr lang="en-US" sz="3600" dirty="0"/>
              <a:t>&gt;) </a:t>
            </a:r>
          </a:p>
          <a:p>
            <a:r>
              <a:rPr lang="en-US" sz="3600" dirty="0"/>
              <a:t>Links (&lt;a&gt;) </a:t>
            </a:r>
          </a:p>
          <a:p>
            <a:r>
              <a:rPr lang="en-US" sz="3600" dirty="0"/>
              <a:t>Lists, tables, forms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FDF661-9B54-10BD-860C-10231A97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2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10D62-272F-1A4E-4F74-B5D992A8F322}"/>
              </a:ext>
            </a:extLst>
          </p:cNvPr>
          <p:cNvSpPr txBox="1"/>
          <p:nvPr/>
        </p:nvSpPr>
        <p:spPr>
          <a:xfrm>
            <a:off x="963561" y="344129"/>
            <a:ext cx="984209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Summary</a:t>
            </a:r>
          </a:p>
          <a:p>
            <a:r>
              <a:rPr lang="en-US" sz="4000" dirty="0"/>
              <a:t>HTML structure = &lt;html&gt; + &lt;head&gt; + &lt;body&gt; </a:t>
            </a:r>
          </a:p>
          <a:p>
            <a:r>
              <a:rPr lang="en-US" sz="4000" dirty="0"/>
              <a:t>Head </a:t>
            </a:r>
            <a:r>
              <a:rPr lang="en-US" sz="4000"/>
              <a:t>= Metadata </a:t>
            </a:r>
            <a:r>
              <a:rPr lang="en-US" sz="4000" dirty="0"/>
              <a:t>(invisible) </a:t>
            </a:r>
          </a:p>
          <a:p>
            <a:r>
              <a:rPr lang="en-US" sz="4000" dirty="0"/>
              <a:t>Body = visible content </a:t>
            </a:r>
          </a:p>
          <a:p>
            <a:r>
              <a:rPr lang="en-US" sz="4000" dirty="0"/>
              <a:t>Meta tags = Extra information </a:t>
            </a:r>
          </a:p>
          <a:p>
            <a:r>
              <a:rPr lang="en-US" sz="4000" dirty="0"/>
              <a:t>Title = Page name </a:t>
            </a:r>
          </a:p>
          <a:p>
            <a:r>
              <a:rPr lang="en-US" sz="4000" dirty="0"/>
              <a:t>Lang = language of page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B528C-32B7-1FAD-2D15-BA729264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A24A-B88A-4AA3-B7BE-5363A62C7D9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734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435</TotalTime>
  <Words>426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Century Gothic</vt:lpstr>
      <vt:lpstr>Courier New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Zafrullah</dc:creator>
  <cp:lastModifiedBy>Mohammad Zafrullah</cp:lastModifiedBy>
  <cp:revision>10</cp:revision>
  <dcterms:created xsi:type="dcterms:W3CDTF">2026-04-04T06:11:47Z</dcterms:created>
  <dcterms:modified xsi:type="dcterms:W3CDTF">2026-04-04T13:51:19Z</dcterms:modified>
</cp:coreProperties>
</file>